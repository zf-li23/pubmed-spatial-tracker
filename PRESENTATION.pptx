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74" r:id="rId6"/>
    <p:sldId id="275" r:id="rId7"/>
    <p:sldId id="283" r:id="rId8"/>
    <p:sldId id="259" r:id="rId9"/>
    <p:sldId id="260" r:id="rId10"/>
    <p:sldId id="261" r:id="rId11"/>
    <p:sldId id="262" r:id="rId12"/>
    <p:sldId id="263" r:id="rId13"/>
    <p:sldId id="277" r:id="rId14"/>
    <p:sldId id="276" r:id="rId15"/>
    <p:sldId id="265" r:id="rId16"/>
    <p:sldId id="279" r:id="rId17"/>
    <p:sldId id="280" r:id="rId18"/>
    <p:sldId id="281" r:id="rId19"/>
    <p:sldId id="266" r:id="rId20"/>
    <p:sldId id="267" r:id="rId21"/>
    <p:sldId id="278" r:id="rId22"/>
    <p:sldId id="268" r:id="rId23"/>
    <p:sldId id="269" r:id="rId24"/>
    <p:sldId id="270" r:id="rId25"/>
    <p:sldId id="271" r:id="rId26"/>
    <p:sldId id="272" r:id="rId27"/>
    <p:sldId id="273" r:id="rId2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73152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面向生物医学文献的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多策略多标签分类方法系统比较研究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—— 以空间转录组学文献自动分类为例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李哲夫    2023011400    生32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清华大学 · 机器学习概论 · 课程大作业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github.com/zf-li23/pubmed-spatial-tracker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2026年6月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汇报提纲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280160"/>
            <a:ext cx="411480" cy="4114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131673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一、选题背景与研究目标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057400"/>
            <a:ext cx="411480" cy="41148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20939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二、数据集与方法论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834640"/>
            <a:ext cx="411480" cy="4114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87121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三、代码架构与功能模块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611880"/>
            <a:ext cx="411480" cy="41148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364845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四、实验结果与分析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389120"/>
            <a:ext cx="411480" cy="41148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442569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五、遇到的问题与解决方案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166360"/>
            <a:ext cx="411480" cy="41148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520293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六、核心结论与展望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一、选题背景与意义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为什么要系统比较多种机器学习方法？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265" y="1040130"/>
            <a:ext cx="9932670" cy="5326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一、选题背景与意义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为什么要系统比较多种机器学习方法？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2130" y="1148080"/>
            <a:ext cx="8587105" cy="5339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一、选题背景与意义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为什么要系统比较多种机器学习方法？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63380"/>
          <a:stretch>
            <a:fillRect/>
          </a:stretch>
        </p:blipFill>
        <p:spPr>
          <a:xfrm>
            <a:off x="2694940" y="2173605"/>
            <a:ext cx="6801485" cy="25114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36176"/>
          <a:stretch>
            <a:fillRect/>
          </a:stretch>
        </p:blipFill>
        <p:spPr>
          <a:xfrm>
            <a:off x="2694940" y="1537970"/>
            <a:ext cx="6801485" cy="43770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一、选题背景与意义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为什么要系统比较多种机器学习方法？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182880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❗ 生物医学文献的指数增长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空间转录组学 PubMed 年发文量从 &lt;500 篇 (2020)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激增至 4,150 篇 (2025)，传统人工分类不可行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亟需自动化的多标签文献分类方法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5303520" cy="2011680"/>
          </a:xfrm>
          <a:prstGeom prst="rect">
            <a:avLst/>
          </a:prstGeom>
          <a:solidFill>
            <a:srgbClr val="FF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⚡ 三大技术挑战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文本稀疏：词袋模型无法捕捉医学术语语义关联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标签复杂：一篇文章同时涉及类别/技术/生物领域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标注成本高：大规模人工标注不现实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48640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🎯 研究策略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多数据集 × 多算法 × 多特征表示的系统比较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4 个独立数据集形成天然梯度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14 种算法覆盖课程全部主要模块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200400"/>
            <a:ext cx="5486400" cy="201168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1FA2"/>
                </a:solidFill>
                <a:latin typeface="微软雅黑" panose="020B0503020204020204" charset="-122"/>
              </a:defRPr>
            </a:pPr>
            <a:r>
              <a:t>🔬 核心研究问题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576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不同算法在不同标签粒度下的排序是否一致？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图结构信息对文献分类有无边际收益？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LLM 标注能否替代人工标注？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「宽泛预训练 + 领域微调」范式是否有效？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总体完成情况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7 组实验 · 115 子任务 · 98.3% 完成率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200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组实验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200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115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子任务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3200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554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98.3%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完成率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3200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9,148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篇标注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657600"/>
            <a:ext cx="3200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840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7B1FA2"/>
                </a:solidFill>
                <a:latin typeface="微软雅黑" panose="020B0503020204020204" charset="-122"/>
              </a:defRPr>
            </a:pPr>
            <a: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种算法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57600"/>
            <a:ext cx="3200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840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~60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次提交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实验进度：000✅  001✅(82/84)  002✅  003✅  004✅  005✅(8/9)  006✅  007✅(11/13)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二、数据集全景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四个数据集从标签粒度、信息维度到标注完备性形成天然梯度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645920" cy="41148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数据集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280160"/>
            <a:ext cx="1463040" cy="41148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325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规模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280160"/>
            <a:ext cx="1280160" cy="41148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3258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标签数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1280160"/>
            <a:ext cx="1828800" cy="41148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标签类型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0" y="1280160"/>
            <a:ext cx="2377440" cy="41148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325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核心角色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783080"/>
            <a:ext cx="16459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8562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OHSUMED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1783080"/>
            <a:ext cx="14630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18562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~10K 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1783080"/>
            <a:ext cx="128016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18562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1,650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1783080"/>
            <a:ext cx="182880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18562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MeSH 多标签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1783080"/>
            <a:ext cx="23774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18562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大规模稀疏标签基准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37744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45059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PML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2377440"/>
            <a:ext cx="1463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0" y="24505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10K 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2377440"/>
            <a:ext cx="1280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245059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237744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24505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顶级类别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237744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24505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粗粒度快速实验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2971800"/>
            <a:ext cx="16459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0449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PGB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4600" y="2971800"/>
            <a:ext cx="14630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0" y="3044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5K 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2971800"/>
            <a:ext cx="128016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0520" y="30449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2971800"/>
            <a:ext cx="182880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0" y="30449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节点分类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0" y="2971800"/>
            <a:ext cx="23774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43800" y="3044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图结构方法验证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56616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36393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Spatial</a:t>
            </a:r>
            <a:br/>
            <a:r>
              <a:t>Tracker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14600" y="3566160"/>
            <a:ext cx="1463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60320" y="36393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9,148 篇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3566160"/>
            <a:ext cx="1280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60520" y="36393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6+15+19+17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32120" y="356616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77840" y="36393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LLM 标注</a:t>
            </a:r>
            <a:br/>
            <a:r>
              <a:t>多维标签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0" y="356616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43800" y="36393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目标应用场景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数据集梯度设计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4937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📌  标签粒度梯度：16 (PML) → 3 (PGB) → 1,650 (OHSUMED) → 40+ (ST)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5303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📌  信息维度梯度：纯文本 → 文本+元数据 → 文本+图结构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5669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📌  标注完备性：全标注 (OHSUMED/PML/PGB) → LLM 标注 (ST)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实验设计：三步渐进策略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Step 1: 筛选 → Step 2: 验证 → Step 3: 迁移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474720" cy="49377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474720" cy="45720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Step 1: 多数据集算法筛选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3 个全标注数据集并行比较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7 模型 × 4 特征 = 28 组/数据集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Exp 001-005 共 105 组实验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产出：算法排名、特征有效性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图结构信息的边际收益量化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280160"/>
            <a:ext cx="3200400" cy="4937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280160"/>
            <a:ext cx="3200400" cy="45720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2984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Step 2: 目标数据集验证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PubMed 检索 → 9,148 篇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6 维 LLM 标注体系设计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DeepSeek-v4-flash 批量标注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3 方法 ST 基准测试 (Exp 006)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标注质量评估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280160"/>
            <a:ext cx="3291840" cy="49377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1280160"/>
            <a:ext cx="3291840" cy="4572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2984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Step 3: 迁移微调探索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3 种源域预训练策略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BioBERT+MLP 微调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GCN/GraphSAGE 图迁移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13 组实验 (Exp 007)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F1=0.9143 全场最佳 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算法全景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14 种算法 × 5 种文本表示，覆盖课程全部主要模块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文本表示（5 种）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926080" cy="3657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TF-IDF (1-2gram, 5K)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词级稀疏基线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926080" cy="3657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BioBERT (768d, mean pool)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21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上下文语义嵌入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60320"/>
            <a:ext cx="2926080" cy="3657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LDA (K=15)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78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文档级主题分布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17520"/>
            <a:ext cx="2926080" cy="3657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358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元特征 (3-5d)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0358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非文本信号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74720"/>
            <a:ext cx="2926080" cy="3657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93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Node2Vec (128d)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493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图结构嵌入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分类算法（14 种）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645920"/>
            <a:ext cx="210312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03920" y="1645920"/>
            <a:ext cx="32004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66420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贝叶斯学习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166420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Naive Bayes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05740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03920" y="2057400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07568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基于实例的学习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207568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k-NN, SVM (RBF)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468880"/>
            <a:ext cx="210312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3920" y="2468880"/>
            <a:ext cx="32004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48716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回归学习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248716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Logistic Regression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88036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03920" y="2880360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89864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集成学习 (Bagging)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89864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Random Forest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291840"/>
            <a:ext cx="210312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03920" y="3291840"/>
            <a:ext cx="32004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331012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集成学习 (Boosting)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331012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AdaBoost, XGBoost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70332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03920" y="3703320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372160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深度学习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372160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BioBERT + MLP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114800"/>
            <a:ext cx="210312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503920" y="4114800"/>
            <a:ext cx="32004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413308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无监督学习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413308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LDA + KMeans 聚类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52628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03920" y="4526280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454456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图表示学习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454456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Node2Vec, GCN, GraphSAGE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多标签策略：Binary Relevance / Classifier Chains / Label Powerset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三、代码架构与主要功能模块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面向可复现实验的模块化设计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34640" y="118872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 panose="020B0609020204030204"/>
              </a:defRPr>
            </a:pPr>
            <a:r>
              <a:t>src/datasets/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数据集加载器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280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4 个数据集统一的 BiomedDataset 接口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192024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38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 panose="020B0609020204030204"/>
              </a:defRPr>
            </a:pPr>
            <a:r>
              <a:t>src/features/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特征提取器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011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TF-IDF / BioBERT / LDA / Meta / Node2Vec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40" y="265176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6700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 panose="020B0609020204030204"/>
              </a:defRPr>
            </a:pPr>
            <a:r>
              <a:t>src/models/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926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模型实现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743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14 种算法的统一接口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8328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34640" y="338328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4015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 panose="020B0609020204030204"/>
              </a:defRPr>
            </a:pPr>
            <a:r>
              <a:t>src/evaluation/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评估框架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474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指标计算 + CSV 实验日志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1480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411480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133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 panose="020B0609020204030204"/>
              </a:defRPr>
            </a:pPr>
            <a:r>
              <a:t>src/pipeline.py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89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实验流水线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2062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交叉验证 + 并行调度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4632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34640" y="484632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8646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 panose="020B0609020204030204"/>
              </a:defRPr>
            </a:pPr>
            <a:r>
              <a:t>src/annotate/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120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批量标注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937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DeepSeek API 断点续标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57784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34640" y="557784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5961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 panose="020B0609020204030204"/>
              </a:defRPr>
            </a:pPr>
            <a:r>
              <a:t>src/search/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852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PubMed 检索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5669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稳健的 NCBI 抓取 + 增量保存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实验目录（7 组可复现实验）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1645920"/>
            <a:ext cx="48463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16733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 panose="020B0609020204030204"/>
              </a:defRPr>
            </a:pPr>
            <a:r>
              <a:t>experiments/000_query_analysis/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2103120"/>
            <a:ext cx="4846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0" y="21305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 panose="020B0609020204030204"/>
              </a:defRPr>
            </a:pPr>
            <a:r>
              <a:t>experiments/001_classical_matrix/    (7×4×3=84)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2560320"/>
            <a:ext cx="48463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0" y="25877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 panose="020B0609020204030204"/>
              </a:defRPr>
            </a:pPr>
            <a:r>
              <a:t>experiments/002_biobert_mlp/         (3 数据集)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3017520"/>
            <a:ext cx="4846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0" y="30449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 panose="020B0609020204030204"/>
              </a:defRPr>
            </a:pPr>
            <a:r>
              <a:t>experiments/003_lda_cluster/         (3 数据集)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0" y="3474720"/>
            <a:ext cx="48463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35021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 panose="020B0609020204030204"/>
              </a:defRPr>
            </a:pPr>
            <a:r>
              <a:t>experiments/004_multilabel_strategy/ (BR/CC/LP)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3931920"/>
            <a:ext cx="4846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39593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 panose="020B0609020204030204"/>
              </a:defRPr>
            </a:pPr>
            <a:r>
              <a:t>experiments/005_graph_models/        (Node2Vec/GCN/GraphSAGE)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0" y="4389120"/>
            <a:ext cx="48463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0" y="44165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 panose="020B0609020204030204"/>
              </a:defRPr>
            </a:pPr>
            <a:r>
              <a:t>experiments/006_st_benchmark/        (ST 3 方法)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4846320"/>
            <a:ext cx="4846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9440" y="48737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 panose="020B0609020204030204"/>
              </a:defRPr>
            </a:pPr>
            <a:r>
              <a:t>experiments/007_transfer_learning/   (13 组实验)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设计原则：统一接口 · 增量保存 · 断点续跑 · 可复现 · 并行调度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四、实验结果 — Exp 001 经典算法矩阵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7 模型 × 4 特征 × 3 数据集 = 84 组 | 82/84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各数据集最佳组合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73152" cy="82296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OHSUMED (1,650 标签)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最佳: AdaBoost + TF-IDF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0.1687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次优: LR+BioBERT 0.0853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54864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73152" cy="82296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PML (16 标签)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最佳: LogisticReg + BioBERT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0.6710 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461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次优: SVM+BioBERT 0.6603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54864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73152" cy="82296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PGB (3 类)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最佳: AdaBoost + TF-IDF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749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0.4215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519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次优: SVM+TF-IDF 0.3775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188720"/>
            <a:ext cx="5303520" cy="384048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💡 关键发现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7373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BioBERT 嵌入 &gt;&gt; TF-IDF: PML 上提升 18% (0.6710 vs 0.5682)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AdaBoost+TF-IDF 在稀疏标签空间中意外地好 (OHSUMED 0.1687)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标签密度决定算法排序: 稠密用 LR, 稀疏用 AdaBoost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OHSUMED 1,650 标签太稀疏，所有方法 F1 &lt; 0.2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逻辑回归 + BioBERT 嵌入性价比最优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rcRect b="65333"/>
          <a:stretch>
            <a:fillRect/>
          </a:stretch>
        </p:blipFill>
        <p:spPr>
          <a:xfrm>
            <a:off x="4758055" y="4297680"/>
            <a:ext cx="69088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四、实验结果 — Exp 001 经典算法矩阵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7 模型 × 4 特征 × 3 数据集 = 84 组 | 82/84 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rcRect t="34870"/>
          <a:stretch>
            <a:fillRect/>
          </a:stretch>
        </p:blipFill>
        <p:spPr>
          <a:xfrm>
            <a:off x="1931035" y="1153160"/>
            <a:ext cx="8328660" cy="538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实验结果 — Exp 002 ~ 005 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BioBERT 微调 · 无监督聚类 · 多标签策略 · 图模型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2468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743200" cy="4114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07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Exp 002 BioBERT+MLP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OHSUMED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37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0.0013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737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17min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PML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240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0.6411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240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19min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PGB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743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0.3601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743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9min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91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PML 上微调后 F1=0.6411,</a:t>
            </a:r>
            <a:br/>
            <a:r>
              <a:t>与冻结 LR 的 0.6710 接近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188720"/>
            <a:ext cx="2743200" cy="2468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1188720"/>
            <a:ext cx="2743200" cy="41148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1207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Exp 003 LDA+聚类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OHSUMED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NMI=0.44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240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PML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240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NMI=0.10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PGB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743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NMI=0.005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291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OHSUMED 主题结构明显</a:t>
            </a:r>
            <a:br/>
            <a:r>
              <a:t>PGB 3 类不分 (NMI≈0)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188720"/>
            <a:ext cx="2743200" cy="2468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188720"/>
            <a:ext cx="2743200" cy="41148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207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Exp 004 多标签策略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PML 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0.5796 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148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PML BR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2148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0.5686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PML LP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2560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0.5686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971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OHSUMED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2971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&lt; 0.01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291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CC 链式传递捕捉标签依赖</a:t>
            </a:r>
            <a:br/>
            <a:r>
              <a:t>仅在小标签空间有效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1188720"/>
            <a:ext cx="2743200" cy="2468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0" y="1188720"/>
            <a:ext cx="2743200" cy="41148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1207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Exp 005 图模型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GCN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1737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0.4125 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Node2Vec+LR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21488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0.3324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GraphSAGE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25603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0.3324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Node2Vec+SVM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2971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0.3324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3291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GCN 图卷积优于随机游走</a:t>
            </a:r>
            <a:br/>
            <a:r>
              <a:t>Node2Vec 各分类器持平</a:t>
            </a:r>
          </a:p>
        </p:txBody>
      </p:sp>
      <p:pic>
        <p:nvPicPr>
          <p:cNvPr id="52" name="Picture 51" descr="fig3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931920"/>
            <a:ext cx="2651760" cy="2560320"/>
          </a:xfrm>
          <a:prstGeom prst="rect">
            <a:avLst/>
          </a:prstGeom>
        </p:spPr>
      </p:pic>
      <p:pic>
        <p:nvPicPr>
          <p:cNvPr id="53" name="Picture 52" descr="fig3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931920"/>
            <a:ext cx="2651760" cy="2560320"/>
          </a:xfrm>
          <a:prstGeom prst="rect">
            <a:avLst/>
          </a:prstGeom>
        </p:spPr>
      </p:pic>
      <p:pic>
        <p:nvPicPr>
          <p:cNvPr id="54" name="Picture 53" descr="fig3_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931920"/>
            <a:ext cx="2651760" cy="2560320"/>
          </a:xfrm>
          <a:prstGeom prst="rect">
            <a:avLst/>
          </a:prstGeom>
        </p:spPr>
      </p:pic>
      <p:pic>
        <p:nvPicPr>
          <p:cNvPr id="55" name="Picture 54" descr="fig3_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3931920"/>
            <a:ext cx="2651760" cy="25603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实验结果 — Exp 002 ~ 005 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BioBERT 微调 · 无监督聚类 · 多标签策略 · 图模型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1"/>
          <a:srcRect b="67481"/>
          <a:stretch>
            <a:fillRect/>
          </a:stretch>
        </p:blipFill>
        <p:spPr>
          <a:xfrm>
            <a:off x="1299210" y="1243330"/>
            <a:ext cx="9592310" cy="50907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实验结果 — Exp 002 ~ 005 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BioBERT 微调 · 无监督聚类 · 多标签策略 · 图模型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33037" b="34000"/>
          <a:stretch>
            <a:fillRect/>
          </a:stretch>
        </p:blipFill>
        <p:spPr>
          <a:xfrm>
            <a:off x="1265555" y="1280795"/>
            <a:ext cx="9356725" cy="50336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实验结果 — Exp 002 ~ 005 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BioBERT 微调 · 无监督聚类 · 多标签策略 · 图模型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67130"/>
          <a:stretch>
            <a:fillRect/>
          </a:stretch>
        </p:blipFill>
        <p:spPr>
          <a:xfrm>
            <a:off x="1207770" y="1162685"/>
            <a:ext cx="9472295" cy="50812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实验结果 — Exp 006 &amp; 007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ST 基准测试 · 迁移微调 · 全场最佳 F1=0.9143 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Exp 006: Spatial Tracker 基准测试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8288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645920"/>
            <a:ext cx="109728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664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F1-macro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109728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64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645920"/>
            <a:ext cx="914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664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时间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11680"/>
            <a:ext cx="18288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0208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TF-IDF + SVM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201168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0.6365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201168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0.9167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011680"/>
            <a:ext cx="9144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0208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913s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31720"/>
            <a:ext cx="1828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3408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BioBERT + LR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2331720"/>
            <a:ext cx="1097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234086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0.8068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2331720"/>
            <a:ext cx="1097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34086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0.9298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2331720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23408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138s 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651760"/>
            <a:ext cx="18288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6609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BioBERT + MLP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31720" y="265176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31720" y="2660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0.8444 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0" y="265176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2660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0.9380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2651760"/>
            <a:ext cx="9144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26609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1039s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108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💡 BioBERT+LR 性价比最优: 差 4.7% 但快 7.5 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1188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B1FA2"/>
                </a:solidFill>
                <a:latin typeface="微软雅黑" panose="020B0503020204020204" charset="-122"/>
              </a:defRPr>
            </a:pPr>
            <a:r>
              <a:t>Exp 007: 迁移微调探索 — 核心结果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1645920"/>
            <a:ext cx="1645920" cy="3200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1664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源域→目标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35240" y="1645920"/>
            <a:ext cx="1371600" cy="3200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5240" y="1664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算法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52560" y="1645920"/>
            <a:ext cx="1097280" cy="3200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0" y="1664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F1-macro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95560" y="1645920"/>
            <a:ext cx="1097280" cy="3200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95560" y="1664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增益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011680"/>
            <a:ext cx="164592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0" y="20208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ST→ST (基线)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35240" y="2011680"/>
            <a:ext cx="13716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35240" y="20208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BioBERT+MLP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60" y="201168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0.8345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95560" y="201168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95560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2331720"/>
            <a:ext cx="1645920" cy="274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0" y="23408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PML→ST 🏆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35240" y="2331720"/>
            <a:ext cx="1371600" cy="274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35240" y="23408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BioBERT+MLP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52560" y="2331720"/>
            <a:ext cx="1097280" cy="274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52560" y="234086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0.9143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195560" y="2331720"/>
            <a:ext cx="1097280" cy="274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95560" y="234086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+9.6% 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2651760"/>
            <a:ext cx="164592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0" y="26609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OHSUMED→ST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35240" y="2651760"/>
            <a:ext cx="13716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35240" y="26609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BioBERT+MLP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52560" y="265176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52560" y="2660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0.8503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195560" y="265176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95560" y="2660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+1.9%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2971800"/>
            <a:ext cx="1645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3600" y="29809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ST k-NN GCN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35240" y="2971800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35240" y="29809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GCN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52560" y="2971800"/>
            <a:ext cx="1097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52560" y="29809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0.7716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95560" y="2971800"/>
            <a:ext cx="1097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95560" y="29809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3291840"/>
            <a:ext cx="164592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0" y="33009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ST k-NN SAGE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35240" y="3291840"/>
            <a:ext cx="13716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635240" y="33009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GraphSAGE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52560" y="329184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052560" y="33009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0.7603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195560" y="329184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195560" y="33009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3749039"/>
            <a:ext cx="5760720" cy="1371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0" y="3794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🏆 核心发现: PML 预训练 + ST 微调 F1=0.9143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0" y="42062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比直接训练提升 +9.6%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源域选择至关重要: PML (同类型) &gt;&gt; OHSUMED (异类型)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GCN/GraphSAGE 在 ST k-NN 图上 F1≈0.77, 接近 LR 基线</a:t>
            </a:r>
          </a:p>
        </p:txBody>
      </p:sp>
      <p:pic>
        <p:nvPicPr>
          <p:cNvPr id="91" name="Picture 90" descr="fig4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474720"/>
            <a:ext cx="2560320" cy="2926080"/>
          </a:xfrm>
          <a:prstGeom prst="rect">
            <a:avLst/>
          </a:prstGeom>
        </p:spPr>
      </p:pic>
      <p:pic>
        <p:nvPicPr>
          <p:cNvPr id="92" name="Picture 91" descr="fig4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3474720"/>
            <a:ext cx="2560320" cy="292608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数据标注与 Web 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9,148 篇 LLM 标注 · 交互式文献浏览器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LLM 批量标注 (DeepSeek-v4-flash)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类别分布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011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5,333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11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58.3%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2057400"/>
            <a:ext cx="799642" cy="1828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13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3134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1,785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3134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19.5%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2359152"/>
            <a:ext cx="267462" cy="1828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151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61518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1,308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61518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14.3%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660904"/>
            <a:ext cx="196138" cy="1828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Protocol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91693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551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91693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6.0%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962656"/>
            <a:ext cx="82296" cy="1828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186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Data Resource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2186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91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2186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1.0%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3264408"/>
            <a:ext cx="13716" cy="1828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Benchmark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520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520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0.9%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3566160"/>
            <a:ext cx="12344" cy="1828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置信度: high=4,307 (47.1%)  medium=4,439 (48.5%)  low=401 (4.4%)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Top 标签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Niche &amp; Microenvironment   2,987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313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Cell-Cell Communication    2,137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26151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Spatial Domain Ident.      1,766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29169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Cell-Type Deconvolution    1,362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218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Image-Based Analysis       1,320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Web 应用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📌  Flask 后端 + React 前端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166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📌  文章浏览、搜索、多标签筛选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486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📌  DeepSeek 标注结果可视化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806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📌  标签管理 (添加/编辑/删除)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126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📌  技术栈: Python/Flask + Vite/React</a:t>
            </a:r>
          </a:p>
        </p:txBody>
      </p:sp>
      <p:pic>
        <p:nvPicPr>
          <p:cNvPr id="44" name="Picture 43" descr="fig1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188720"/>
            <a:ext cx="2560320" cy="2286000"/>
          </a:xfrm>
          <a:prstGeom prst="rect">
            <a:avLst/>
          </a:prstGeom>
        </p:spPr>
      </p:pic>
      <p:pic>
        <p:nvPicPr>
          <p:cNvPr id="45" name="Picture 44" descr="fig1_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188720"/>
            <a:ext cx="2560320" cy="2286000"/>
          </a:xfrm>
          <a:prstGeom prst="rect">
            <a:avLst/>
          </a:prstGeom>
        </p:spPr>
      </p:pic>
      <p:pic>
        <p:nvPicPr>
          <p:cNvPr id="46" name="Picture 45" descr="fig1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657600"/>
            <a:ext cx="2560320" cy="2286000"/>
          </a:xfrm>
          <a:prstGeom prst="rect">
            <a:avLst/>
          </a:prstGeom>
        </p:spPr>
      </p:pic>
      <p:pic>
        <p:nvPicPr>
          <p:cNvPr id="47" name="Picture 46" descr="fig1_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3657600"/>
            <a:ext cx="2560320" cy="22860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四、实验结果 — Exp 00</a:t>
            </a:r>
            <a:r>
              <a:rPr lang="en-US"/>
              <a:t>0</a:t>
            </a:r>
            <a:r>
              <a:t> </a:t>
            </a:r>
            <a:r>
              <a:rPr lang="zh-CN"/>
              <a:t>空间转录组学文献标注</a:t>
            </a:r>
            <a:endParaRPr lang="zh-CN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空间转录组学文献库 (9,148 篇) 的多维统计分析</a:t>
            </a:r>
            <a:endParaRPr lang="zh-CN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0605" y="932815"/>
            <a:ext cx="7590155" cy="592518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实验结果 — UMAP 嵌入可视化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4 数据集 × BioBERT 嵌入的 2D 投影</a:t>
            </a:r>
          </a:p>
        </p:txBody>
      </p:sp>
      <p:pic>
        <p:nvPicPr>
          <p:cNvPr id="5" name="Picture 4" descr="fig5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3749039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38587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OHSUMED</a:t>
            </a:r>
          </a:p>
        </p:txBody>
      </p:sp>
      <p:pic>
        <p:nvPicPr>
          <p:cNvPr id="7" name="Picture 6" descr="fig5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97280"/>
            <a:ext cx="3749039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38587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PML</a:t>
            </a:r>
          </a:p>
        </p:txBody>
      </p:sp>
      <p:pic>
        <p:nvPicPr>
          <p:cNvPr id="9" name="Picture 8" descr="fig5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097280"/>
            <a:ext cx="3749039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79" y="38587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PGB</a:t>
            </a:r>
          </a:p>
        </p:txBody>
      </p:sp>
      <p:pic>
        <p:nvPicPr>
          <p:cNvPr id="11" name="Picture 10" descr="fig5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931920"/>
            <a:ext cx="3749039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69340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ST (类别)</a:t>
            </a:r>
          </a:p>
        </p:txBody>
      </p:sp>
      <p:pic>
        <p:nvPicPr>
          <p:cNvPr id="13" name="Picture 12" descr="fig5_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3931920"/>
            <a:ext cx="3749039" cy="2743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0" y="669340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ST (置信度)</a:t>
            </a:r>
          </a:p>
        </p:txBody>
      </p:sp>
      <p:pic>
        <p:nvPicPr>
          <p:cNvPr id="15" name="Picture 14" descr="fig5_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79" y="3931920"/>
            <a:ext cx="3749039" cy="2743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55279" y="669340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ST (技术平台)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💡 OHSUMED 聚成单簇 (标签空间过于稀疏) | PML/PGB 可见初始分离 | ST 各类别区分度良好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五、核心发现与结论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10 条关键发现 · 3 条实践建议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" cy="45720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🏆  PML→ST 微调 F1=0.9143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3560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比直接训练 +9.6%，验证迁移学习范式的有效性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4864" cy="4572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070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📊  BioBERT 嵌入 &gt;&gt; TF-IDF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43560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在所有数据集上系统性提升 10-30%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19072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19072"/>
            <a:ext cx="54864" cy="45720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7373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🎯  AdaBoost 在稀疏标签空间称王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96596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OHSUMED 上 0.1687，远超其他模型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719072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719072"/>
            <a:ext cx="54864" cy="45720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7373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🔗  GCN &gt; Node2Vec ≈ GraphSAGE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96596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图卷积结构对节点分类更有效 (0.4125)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49424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249424"/>
            <a:ext cx="54864" cy="4572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26771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⚡  BioBERT+LR 性价比最优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49631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F1=0.8068，仅差 4.7%，快 7.5 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249424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2249424"/>
            <a:ext cx="54864" cy="4572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26771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1FA2"/>
                </a:solidFill>
                <a:latin typeface="微软雅黑" panose="020B0503020204020204" charset="-122"/>
              </a:defRPr>
            </a:pPr>
            <a:r>
              <a:t>🧩  CC 多标签策略边际收益有限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49631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仅在小标签空间 (16类) 体现优势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779776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2779776"/>
            <a:ext cx="54864" cy="457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79806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📐  标签密度决定算法排序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02666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稠密标签用 LR，稀疏标签用 AdaBoost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2779776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2779776"/>
            <a:ext cx="54864" cy="45720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279806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🔄  源域选择至关重要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02666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PML (同类型) 微调优于 OHSUMED (异类型) +7.5%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310128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3310128"/>
            <a:ext cx="54864" cy="45720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32841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🤖  LLM 标注可行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55701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9,148 篇全量标注，置信度高+中占 95.6%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310128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3310128"/>
            <a:ext cx="54864" cy="45720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32841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📈  ST 数据集质量良好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355701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类别区分度好，UMAP 各类别可区分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六、遇到的问题与解决方案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集群部署 · 兼容性 · 性能优化 · Bug 修复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⚠  集群环境部署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问题: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conda 环境从本地到无互联网集群的迁移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解决: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rsync 分批传输解决 tar 的 .so 损坏问题；</a:t>
            </a:r>
            <a:br/>
            <a:r>
              <a:t>锁定 Python 3.12 + PyTorch 2.5.1+cu121 + transformers 4.48.3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2070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⚠  HuggingFace 离线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5544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问题: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5544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集群无网络，模型加载失败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28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解决: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828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本地预下载 + rsync 同步缓存；</a:t>
            </a:r>
            <a:br/>
            <a:r>
              <a:t>改用 BertTokenizer 跳过 auto-detection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1460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51460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5328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⚠  Exp 001 超时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8803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问题: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8803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串行 48h 只跑 11/84 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54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解决: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1546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拆分为 12 并行任务 (3×4)；增加增量保存机制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51460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251460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5328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⚠  Naive Bayes 兼容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8803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问题: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8803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MultinomialNB 要求非负输入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154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解决: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1546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BioBERT 嵌入有负值 → 改用 GaussianNB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84048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84048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8587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⚠  CSV 合并混乱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206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问题: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多格式 CSV 列数不一致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4805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解决: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805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编写 merge_results.py 自动检测列数、统一去重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84048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384048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38587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⚠  并行死锁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206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问题: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2062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n_jobs=-1 嵌套在 joblib.Parallel 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4805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解决: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4805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每个 fold 新建模型实例，不 deepcopy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16636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516636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1846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⚠  Node2Vec 实现 Bug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5321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问题: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5321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alias sampling 返回索引而非节点 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58064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解决: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8064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修正 _alias_draw() 传入邻居节点列表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516636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26480" y="516636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63640" y="51846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⚠  BioBERT OOM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55321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问题: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55321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predict() 一次性处理全部测试数据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58064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解决: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75120" y="58064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predict() 加 batching (batch_size=64)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技术债务与经验教训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~60 次 Slurm 提交 · ~2 周集群耗时 · 血的教训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🚚  环境传输  用 rsync 而不是 tar 传输 conda 环境，避免 .so 文件损坏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18872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2618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📦  版本锁定  transformers 5.x 需要 torch&gt;=2.6 → 锁定 transformers 4.48.3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562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💾  增量保存  长时实验必须有增量保存，否则超时全丢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78308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8562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🔧  并行计算  sklearn n_jobs=-1 嵌套在 joblib.Parallel 内会造成死锁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505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📋  CSV 规范  多格式数据合并要用脚本处理，不要 cat | sort -u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37744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4505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🔍  缓存一致性  跨实验共享特征时确保缓存键完全匹配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7180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0449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🔄  断点续跑  续跑时 completed 计数必须匹配 --models 过滤器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97180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0449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📐  一次性处理  GPU predict() 必须分 batch，否则 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实验耗时统计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001 经典矩阵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~25次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~10天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0312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002 BioBERT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~9次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~3天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4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003 LDA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2次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4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8h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004 多标签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~6次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~1天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005 图模型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~5次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~1天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006 ST基准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~4次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~6h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3272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3272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007 迁移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~8次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~1天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课程模块对接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微软雅黑" panose="020B0503020204020204" charset="-122"/>
              </a:defRPr>
            </a:pPr>
            <a:r>
              <a:t>覆盖机器学习概论全部主要模块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" cy="5486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73B2"/>
                </a:solidFill>
                <a:latin typeface="微软雅黑" panose="020B0503020204020204" charset="-122"/>
              </a:defRPr>
            </a:pPr>
            <a:r>
              <a:t>贝叶斯学习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Naive Bayes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📌 PML/PGB/OHSUMED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54864" cy="54864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070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基于实例的学习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463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k-NN, SVM (RBF)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00845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📌 全部数据集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2880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1828800"/>
            <a:ext cx="54864" cy="54864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8470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回归学习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1031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Logistic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📌 全部数据集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82880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828800"/>
            <a:ext cx="54864" cy="54864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8470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55E00"/>
                </a:solidFill>
                <a:latin typeface="微软雅黑" panose="020B0503020204020204" charset="-122"/>
              </a:defRPr>
            </a:pPr>
            <a:r>
              <a:t>集成学习 (Bagging)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1031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Random Forest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0845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📌 全部数据集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46888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468880"/>
            <a:ext cx="54864" cy="5486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487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1FA2"/>
                </a:solidFill>
                <a:latin typeface="微软雅黑" panose="020B0503020204020204" charset="-122"/>
              </a:defRPr>
            </a:pPr>
            <a:r>
              <a:t>集成学习 (Boosting)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7432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AdaBoost, XGBoost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📌 全部数据集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46888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2468880"/>
            <a:ext cx="54864" cy="54864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487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深度学习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7432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BioBERT + MLP 微调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0845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📌 全部数据集 (GPU)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10896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108960"/>
            <a:ext cx="54864" cy="54864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1272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无监督学习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3832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LDA + KMeans 聚类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📌 全部数据集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10896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3108960"/>
            <a:ext cx="54864" cy="54864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1272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图表示学习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3832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Node2Vec, GCN, GraphSAGE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00845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📌 PGB + ST (k-NN 图)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572000"/>
            <a:ext cx="11430000" cy="182880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6634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课程要求覆盖情况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每个模块至少实现 1 种算法 ✅ — 覆盖全部 8 个模块，部分模块 2-3 种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所有数据集上使用统一评估框架，公平比较 ✅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多标签任务额外对比 3 种问题转换策略 ✅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实验结果可复现，附完整实验日志和代码 ✅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项目使用 Git 全程记录，所有代码手写实现 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228600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📋 项目总结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构建了多数据集 × 多算法 × 多特征表示的系统性比较框架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7 组实验 113/115 完成 (98.3%)，产出 5 张复合图 + 42 个独立面板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核心发现: PML→ST BioBERT+MLP 微调 F1=0.9143 (+9.6%) 🏆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验证了 LLM 批量标注的可行性 (9,148 篇, high+medium=95.6%)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所有代码手写实现，Git 全程记录，实验可复现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5394960" cy="2560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9E73"/>
                </a:solidFill>
                <a:latin typeface="微软雅黑" panose="020B0503020204020204" charset="-122"/>
              </a:defRPr>
            </a:pPr>
            <a:r>
              <a:t>🔜 后续工作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补全 Exp 001 最后 2 组 (OHSUMED+BioBERT 超时)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完成 PGB→ST GCN/GraphSAGE 图迁移实验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Proposal 最终版插入全部 5 张复合图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完善 Web 应用部署 (GitHub Pages + 后端)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3749039"/>
            <a:ext cx="5577840" cy="2560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840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8F05"/>
                </a:solidFill>
                <a:latin typeface="微软雅黑" panose="020B0503020204020204" charset="-122"/>
              </a:defRPr>
            </a:pPr>
            <a:r>
              <a:t>🙏 致谢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25196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机器学习概论课程全体授课教师与助教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清华大学高性能计算平台 (a-cluster) 支持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DeepSeek 提供 API 用于批量标注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▸  GitHub Copilot 辅助代码开发与调试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6400800"/>
            <a:ext cx="576072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1487A"/>
                </a:solidFill>
                <a:latin typeface="微软雅黑" panose="020B0503020204020204" charset="-122"/>
              </a:defRPr>
            </a:pPr>
            <a:r>
              <a:t>感谢聆听！欢迎提问与交流  |  github.com/zf-li23/pubmed-spatial-tracker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8044</Words>
  <Application>WPS 演示</Application>
  <PresentationFormat>On-screen Show (4:3)</PresentationFormat>
  <Paragraphs>971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李哲夫</cp:lastModifiedBy>
  <cp:revision>13</cp:revision>
  <dcterms:created xsi:type="dcterms:W3CDTF">2013-01-27T09:14:00Z</dcterms:created>
  <dcterms:modified xsi:type="dcterms:W3CDTF">2026-06-11T08:17:56Z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308629A527A64FEE885AADC0CA89AFF5_12</vt:lpwstr>
  </property>
  <property fmtid="{D5CDD505-2E9C-101B-9397-08002B2CF9AE}" pid="3" name="KSOProductBuildVer">
    <vt:lpwstr>2052-12.1.0.26375</vt:lpwstr>
  </property>
</Properties>
</file>